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hikunpneg.github.io/ask-dao-machine/" TargetMode="External"/><Relationship Id="rId3" Type="http://schemas.openxmlformats.org/officeDocument/2006/relationships/hyperlink" Target="https://shikunpneg.github.io/ask-dao-machine/guide/cli.html" TargetMode="External"/><Relationship Id="rId4" Type="http://schemas.openxmlformats.org/officeDocument/2006/relationships/hyperlink" Target="https://shikunpneg.github.io/ask-dao-machine/guide/demo-biomed.html" TargetMode="External"/><Relationship Id="rId5" Type="http://schemas.openxmlformats.org/officeDocument/2006/relationships/hyperlink" Target="https://shikunpneg.github.io/ask-dao-machine/guide/results.html" TargetMode="External"/><Relationship Id="rId6" Type="http://schemas.openxmlformats.org/officeDocument/2006/relationships/hyperlink" Target="https://www.modelscope.cn/studios/skopskp/dao-v-0.3" TargetMode="External"/><Relationship Id="rId7" Type="http://schemas.openxmlformats.org/officeDocument/2006/relationships/hyperlink" Target="https://github.com/shikunpneg/ask-dao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170432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ASK-DAO-MACHINE · 成果汇报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6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问道知识发现系统</a:t>
            </a:r>
          </a:p>
          <a:p>
            <a:pPr>
              <a:spcAft>
                <a:spcPts val="200"/>
              </a:spcAft>
            </a:pPr>
            <a:r>
              <a:rPr sz="36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成果汇报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063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一台制造知识的机器：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推理验证 / 联想 / 大胆猜想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。
汇报顺序：原理 → 生物医学的实践 → dao 模型的实践 → 扩展的实践 → 方向与瓶颈。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355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01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汇报大纲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7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一句话概括这次汇报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机器能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稳定产出真问题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了；新的知识也第一次被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算出来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了；但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世界新问题（N3）至今仍是 0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——这一点我不粉饰。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70048"/>
            <a:ext cx="10607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一、原理</a:t>
            </a:r>
          </a:p>
          <a:p>
            <a:pPr>
              <a:spcAft>
                <a:spcPts val="900"/>
              </a:spcAft>
            </a:pP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两条独立的路（问题路 / 想象路）+ 四道门 + 四个等级（N0–N3）。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判不了的不产出</a:t>
            </a: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，两条路互不评判。</a:t>
            </a:r>
          </a:p>
          <a:p>
            <a:pPr>
              <a:spcAft>
                <a:spcPts val="100"/>
              </a:spcAft>
            </a:pPr>
            <a:r>
              <a:rPr sz="12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二、在生物医学的实践</a:t>
            </a:r>
          </a:p>
          <a:p>
            <a:pPr>
              <a:spcAft>
                <a:spcPts val="900"/>
              </a:spcAft>
            </a:pP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一篇真实开放获取论文（CC BY 4.0）→ 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54 条</a:t>
            </a: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可判问题；其中 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3 条</a:t>
            </a: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是机器从论文自报的 HR/CI 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直接算出来</a:t>
            </a: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的残余混杂门槛。</a:t>
            </a:r>
          </a:p>
          <a:p>
            <a:pPr>
              <a:spcAft>
                <a:spcPts val="100"/>
              </a:spcAft>
            </a:pPr>
            <a:r>
              <a:rPr sz="12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三、dao 模型在生物医学的实践</a:t>
            </a:r>
          </a:p>
          <a:p>
            <a:pPr>
              <a:spcAft>
                <a:spcPts val="900"/>
              </a:spcAft>
            </a:pP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dao-v-0.3 这一代：问题路 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544 条 / 23 个领域</a:t>
            </a: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；想象路 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6,642</a:t>
            </a: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 个组合词走完五步；独立裁决 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15 个进制命题</a:t>
            </a: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。</a:t>
            </a:r>
          </a:p>
          <a:p>
            <a:pPr>
              <a:spcAft>
                <a:spcPts val="100"/>
              </a:spcAft>
            </a:pPr>
            <a:r>
              <a:rPr sz="12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四、扩展的实践</a:t>
            </a:r>
          </a:p>
          <a:p>
            <a:pPr>
              <a:spcAft>
                <a:spcPts val="900"/>
              </a:spcAft>
            </a:pP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同一套判据换领域：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27 个领域 / 702 个配对 / 144 座结构桥梁</a:t>
            </a: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；音乐与记录域重算出的已知结果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对上了</a:t>
            </a: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——这是校准自己的方式。</a:t>
            </a:r>
          </a:p>
          <a:p>
            <a:pPr>
              <a:spcAft>
                <a:spcPts val="100"/>
              </a:spcAft>
            </a:pPr>
            <a:r>
              <a:rPr sz="12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五、方向与瓶颈</a:t>
            </a:r>
          </a:p>
          <a:p>
            <a:pPr>
              <a:spcAft>
                <a:spcPts val="900"/>
              </a:spcAft>
            </a:pP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方向：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多模态实体提取</a:t>
            </a: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（图像 / 声音 → 直接抽实体，尚未实现）。瓶颈：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尚未发现 N3 级新问题</a:t>
            </a: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5815584"/>
            <a:ext cx="10789920" cy="9525"/>
          </a:xfrm>
          <a:prstGeom prst="rect">
            <a:avLst/>
          </a:prstGeom>
          <a:solidFill>
            <a:srgbClr val="C9C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全部数字可用仓库里的命令复现；本 deck 的配图由 </a:t>
            </a:r>
            <a:r>
              <a:rPr sz="10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tools/deck_figs.py</a:t>
            </a: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 从同一批产物生成。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55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02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一、原理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7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两条独立的路，两套成功标准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这是 v0.3.0 确立的架构，此后没有变过：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判不了的不产出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，两条路互不评判。</a:t>
            </a:r>
          </a:p>
        </p:txBody>
      </p:sp>
      <p:pic>
        <p:nvPicPr>
          <p:cNvPr id="5" name="Picture 4" descr="fig_two_pa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70048"/>
            <a:ext cx="3653912" cy="24140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166360"/>
            <a:ext cx="5623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左：问题路（产问题）。右：想象路（产概念）。两条路可以各自单独跑，也可以选择过经验检索桥——过桥只做脚手架，不做裁判。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624328"/>
            <a:ext cx="487375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问题路 · 成功标准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答案成立 / 可判</a:t>
            </a: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。每条问题必须带 </a:t>
            </a:r>
            <a:r>
              <a:rPr sz="10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route</a:t>
            </a: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（判定方式），判不了的不产出。</a:t>
            </a:r>
          </a:p>
          <a:p>
            <a:pPr>
              <a:spcAft>
                <a:spcPts val="100"/>
              </a:spcAft>
            </a:pPr>
            <a:r>
              <a:rPr sz="11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想象路 · 成功标准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语法正确 + 逻辑通畅 + 有推理判断</a:t>
            </a: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——不是「有真实所指」。</a:t>
            </a:r>
          </a:p>
          <a:p>
            <a:pPr>
              <a:spcAft>
                <a:spcPts val="100"/>
              </a:spcAft>
            </a:pPr>
            <a:r>
              <a:rPr sz="11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互不评判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用问题路的逻辑（「这新吗」「有真实所指吗」）去判想象路的概念，是</a:t>
            </a:r>
            <a:r>
              <a:rPr sz="10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范畴错误</a:t>
            </a: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。</a:t>
            </a:r>
          </a:p>
          <a:p>
            <a:pPr>
              <a:spcAft>
                <a:spcPts val="100"/>
              </a:spcAft>
            </a:pPr>
            <a:r>
              <a:rPr sz="11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经验检索桥（可选）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把组合词接到现实经验（维基双通道 + arXiv 回退 → 经验锚点）。</a:t>
            </a:r>
            <a:r>
              <a:rPr sz="10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过桥不改变任何判定</a:t>
            </a: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，检索失败即退化为无锚点。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815584"/>
            <a:ext cx="10789920" cy="9525"/>
          </a:xfrm>
          <a:prstGeom prst="rect">
            <a:avLst/>
          </a:prstGeom>
          <a:solidFill>
            <a:srgbClr val="C9C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8978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实现：</a:t>
            </a:r>
            <a:r>
              <a:rPr sz="10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src/ask_dao_machine/</a:t>
            </a: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 · 架构图见项目站点 §系统结构。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355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03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一、原理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7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什么算「新」：四道门 + 四个等级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把「新」拆成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可操作的门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，而不是形容词。四道门全过才叫 N3——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至今 = 0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。</a:t>
            </a:r>
          </a:p>
        </p:txBody>
      </p:sp>
      <p:pic>
        <p:nvPicPr>
          <p:cNvPr id="5" name="Picture 4" descr="fig_g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599" y="2670048"/>
            <a:ext cx="8005754" cy="24140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175504"/>
            <a:ext cx="10817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四道门（上）与四个等级（下）。纪律：</a:t>
            </a:r>
            <a:r>
              <a:rPr sz="9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显著性 &gt; 新颖性</a:t>
            </a:r>
            <a:r>
              <a:rPr sz="9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——任选参数的序列同样「检索未见」，只有显著性证书拦得住。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815584"/>
            <a:ext cx="10789920" cy="9525"/>
          </a:xfrm>
          <a:prstGeom prst="rect">
            <a:avLst/>
          </a:prstGeom>
          <a:solidFill>
            <a:srgbClr val="C9C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8978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N0 已知 → N1 大概率已知 → N2 疑似未见 → </a:t>
            </a:r>
            <a:r>
              <a:rPr sz="10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N3 世界新</a:t>
            </a: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。「文中未见」只写在「参照系未见」一栏，不等于文献没有。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355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04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一、原理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7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问题从哪来：四种机制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前三种通用，第四种是领域包。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「作者已提出」与「机器提出」必须分开标注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——前者不算新问题。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70048"/>
            <a:ext cx="10607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① 作者自陈未解</a:t>
            </a:r>
          </a:p>
          <a:p>
            <a:pPr>
              <a:spcAft>
                <a:spcPts val="900"/>
              </a:spcAft>
            </a:pP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抓 open problem / remains unclear / 尚不明确。来源标注：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作者已提出（不算新）</a:t>
            </a: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。</a:t>
            </a:r>
          </a:p>
          <a:p>
            <a:pPr>
              <a:spcAft>
                <a:spcPts val="100"/>
              </a:spcAft>
            </a:pPr>
            <a:r>
              <a:rPr sz="12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② 文本张力</a:t>
            </a:r>
          </a:p>
          <a:p>
            <a:pPr>
              <a:spcAft>
                <a:spcPts val="900"/>
              </a:spcAft>
            </a:pP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抓 however / yet / inconsistent 处的分歧。来源标注：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机器提出</a:t>
            </a: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。</a:t>
            </a:r>
          </a:p>
          <a:p>
            <a:pPr>
              <a:spcAft>
                <a:spcPts val="100"/>
              </a:spcAft>
            </a:pPr>
            <a:r>
              <a:rPr sz="12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③ 结构追问</a:t>
            </a:r>
          </a:p>
          <a:p>
            <a:pPr>
              <a:spcAft>
                <a:spcPts val="900"/>
              </a:spcAft>
            </a:pP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对结论句套四问：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范围 / 反例 / 机制 / 定量</a:t>
            </a: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。来源标注：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机器提出</a:t>
            </a: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。</a:t>
            </a:r>
          </a:p>
          <a:p>
            <a:pPr>
              <a:spcAft>
                <a:spcPts val="100"/>
              </a:spcAft>
            </a:pPr>
            <a:r>
              <a:rPr sz="12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④ 领域包（生物医学）</a:t>
            </a:r>
          </a:p>
          <a:p>
            <a:pPr>
              <a:spcAft>
                <a:spcPts val="900"/>
              </a:spcAft>
            </a:pP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10 类方法学缺口 + 从 HR/CI 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直接算</a:t>
            </a: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 E-value。来源标注：机器提出 / 作者已论及（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分标</a:t>
            </a: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）。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5815584"/>
            <a:ext cx="10789920" cy="9525"/>
          </a:xfrm>
          <a:prstGeom prst="rect">
            <a:avLst/>
          </a:prstGeom>
          <a:solidFill>
            <a:srgbClr val="C9C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实现：</a:t>
            </a:r>
            <a:r>
              <a:rPr sz="10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src/ask_dao_machine/paper.py</a:t>
            </a: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 · </a:t>
            </a:r>
            <a:r>
              <a:rPr sz="10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domains_biomed.py</a:t>
            </a: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；产物每条带 </a:t>
            </a:r>
            <a:r>
              <a:rPr sz="10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evidence</a:t>
            </a: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（触发它的原文句）与 </a:t>
            </a:r>
            <a:r>
              <a:rPr sz="10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route</a:t>
            </a: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（判定方式）。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55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05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二、在生物医学的实践 · 新问题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7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一篇论文 → 54 条可判问题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输入：CC BY 4.0 开放获取临床研究（PMC13331974，UK Biobank n=156,000，中位随访 13.3 年，32,787 字符）。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作者自陈未解命中 0 条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——所以这 54 条都是机器提出的。</a:t>
            </a:r>
          </a:p>
        </p:txBody>
      </p:sp>
      <p:pic>
        <p:nvPicPr>
          <p:cNvPr id="5" name="Picture 4" descr="fig_biomed_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70048"/>
            <a:ext cx="5364480" cy="24140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166360"/>
            <a:ext cx="5623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上：54 条的来源构成。下：29 条方法学追问里，主题</a:t>
            </a:r>
            <a:r>
              <a:rPr sz="9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作者已在文中论及 23 条</a:t>
            </a:r>
            <a:r>
              <a:rPr sz="9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，</a:t>
            </a:r>
            <a:r>
              <a:rPr sz="9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文中未见 6 条</a:t>
            </a:r>
            <a:r>
              <a:rPr sz="9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624328"/>
            <a:ext cx="487375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③ 结构追问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16 条：对结论句套范围 / 反例 / 机制 / 定量四问。</a:t>
            </a:r>
          </a:p>
          <a:p>
            <a:pPr>
              <a:spcAft>
                <a:spcPts val="100"/>
              </a:spcAft>
            </a:pPr>
            <a:r>
              <a:rPr sz="11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② 文本张力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6 条：however / yet 处的分歧 → 形式化追问。</a:t>
            </a:r>
          </a:p>
          <a:p>
            <a:pPr>
              <a:spcAft>
                <a:spcPts val="100"/>
              </a:spcAft>
            </a:pPr>
            <a:r>
              <a:rPr sz="11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④ 方法学追问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29 条：10 类缺口，每条带原文句子 + 判定路由。</a:t>
            </a:r>
          </a:p>
          <a:p>
            <a:pPr>
              <a:spcAft>
                <a:spcPts val="100"/>
              </a:spcAft>
            </a:pPr>
            <a:r>
              <a:rPr sz="11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机器算出数值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3 条：从论文自报 HR/CI 算残余混杂门槛（下一页）。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815584"/>
            <a:ext cx="10789920" cy="9525"/>
          </a:xfrm>
          <a:prstGeom prst="rect">
            <a:avLst/>
          </a:prstGeom>
          <a:solidFill>
            <a:srgbClr val="C9C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8978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命令：</a:t>
            </a:r>
            <a:r>
              <a:rPr sz="10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ask-dao-machine paper papers/biomed/PMC13331974.md --domain biomed --out out/biomed_demo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355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06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二、在生物医学的实践 · 新知识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7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机器算出来的三个残余混杂门槛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要把论文报告的效应解释成「没有效应」，未测混杂必须与暴露、结局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同时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达到多强的关联。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原文中 “E-value” 出现 0 次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——这三个数是算出来的，不是抄来的。</a:t>
            </a:r>
          </a:p>
        </p:txBody>
      </p:sp>
      <p:pic>
        <p:nvPicPr>
          <p:cNvPr id="5" name="Picture 4" descr="fig_e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70048"/>
            <a:ext cx="3995831" cy="24140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166360"/>
            <a:ext cx="5623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青：论文自报的效应量。朱砂：机器算出的 E-value（门槛）。黑色竖线：按 95% CI </a:t>
            </a:r>
            <a:r>
              <a:rPr sz="9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下界</a:t>
            </a:r>
            <a:r>
              <a:rPr sz="9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重算的门槛——更保守的那一个。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624328"/>
            <a:ext cx="487375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主结果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HR </a:t>
            </a:r>
            <a:r>
              <a:rPr sz="10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1.67</a:t>
            </a: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（CI 下界 1.37）：未测混杂要与暴露、结局各自达到 RR≈1.67 才能把效应解释为零。</a:t>
            </a:r>
          </a:p>
          <a:p>
            <a:pPr>
              <a:spcAft>
                <a:spcPts val="100"/>
              </a:spcAft>
            </a:pPr>
            <a:r>
              <a:rPr sz="11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最高风险组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HR </a:t>
            </a:r>
            <a:r>
              <a:rPr sz="10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2.34</a:t>
            </a: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（1.88）：所需混杂强度更高，</a:t>
            </a:r>
            <a:r>
              <a:rPr sz="10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最难被混杂解释</a:t>
            </a: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。</a:t>
            </a:r>
          </a:p>
          <a:p>
            <a:pPr>
              <a:spcAft>
                <a:spcPts val="100"/>
              </a:spcAft>
            </a:pPr>
            <a:r>
              <a:rPr sz="11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替代分析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HR </a:t>
            </a:r>
            <a:r>
              <a:rPr sz="10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1.16</a:t>
            </a: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（1.11）：这一条最脆，</a:t>
            </a:r>
            <a:r>
              <a:rPr sz="10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几乎任何微弱混杂都能解释掉</a:t>
            </a: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。</a:t>
            </a:r>
          </a:p>
          <a:p>
            <a:pPr>
              <a:spcAft>
                <a:spcPts val="100"/>
              </a:spcAft>
            </a:pPr>
            <a:r>
              <a:rPr sz="11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怎么复核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公式 E = RR + √(RR(RR−1))，用 HR 近似 RR（结局须不常见）。</a:t>
            </a:r>
            <a:r>
              <a:rPr sz="10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任何人都能用论文里的数字复核这三个数。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815584"/>
            <a:ext cx="10789920" cy="9525"/>
          </a:xfrm>
          <a:prstGeom prst="rect">
            <a:avLst/>
          </a:prstGeom>
          <a:solidFill>
            <a:srgbClr val="C9C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8978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纪律：这是</a:t>
            </a:r>
            <a:r>
              <a:rPr sz="10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门槛</a:t>
            </a: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，不是结论。它不主张效应存在，也不构成任何临床建议。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355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07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二、在生物医学的实践 · 真实使用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7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真实跑一遍：命令与产物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下面是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真实命令序列与未删改的输出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（不是示意）。产物固定落在 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--out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 目录：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problems_*.json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 + 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REPORT.md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。</a:t>
            </a:r>
          </a:p>
        </p:txBody>
      </p:sp>
      <p:pic>
        <p:nvPicPr>
          <p:cNvPr id="5" name="Picture 4" descr="t1-fe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70048"/>
            <a:ext cx="2553462" cy="785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3510426"/>
            <a:ext cx="255346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85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① 取论文：</a:t>
            </a:r>
            <a:r>
              <a:rPr sz="8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data fetch</a:t>
            </a:r>
            <a:r>
              <a:rPr sz="85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 从 Europe PMC 拉开放获取全文</a:t>
            </a:r>
          </a:p>
        </p:txBody>
      </p:sp>
      <p:pic>
        <p:nvPicPr>
          <p:cNvPr id="7" name="Picture 6" descr="t2-r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430" y="2670048"/>
            <a:ext cx="2553462" cy="4457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40430" y="3170685"/>
            <a:ext cx="255346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85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② 跑批：</a:t>
            </a:r>
            <a:r>
              <a:rPr sz="8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paper … --domain biomed</a:t>
            </a:r>
          </a:p>
        </p:txBody>
      </p:sp>
      <p:pic>
        <p:nvPicPr>
          <p:cNvPr id="9" name="Picture 8" descr="t3-ite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5060" y="2670048"/>
            <a:ext cx="1406920" cy="24323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95060" y="5157216"/>
            <a:ext cx="255346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85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③ 逐条问题：带原文证据句 + 判定路由</a:t>
            </a:r>
          </a:p>
        </p:txBody>
      </p:sp>
      <p:pic>
        <p:nvPicPr>
          <p:cNvPr id="11" name="Picture 10" descr="t4-repo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9690" y="2670048"/>
            <a:ext cx="1712481" cy="24323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949690" y="5157216"/>
            <a:ext cx="255346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85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④ 汇总：</a:t>
            </a:r>
            <a:r>
              <a:rPr sz="8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REPORT.md</a:t>
            </a:r>
            <a:r>
              <a:rPr sz="85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 一页人话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815584"/>
            <a:ext cx="10789920" cy="9525"/>
          </a:xfrm>
          <a:prstGeom prst="rect">
            <a:avLst/>
          </a:prstGeom>
          <a:solidFill>
            <a:srgbClr val="C9C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8978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完整回放与逐条证据句见手册：</a:t>
            </a:r>
            <a:r>
              <a:rPr sz="10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docs/guide/demo-biomed.md</a:t>
            </a: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55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08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二、在生物医学的实践 · 经验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7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这次实践学到的三件事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经验比结果更值得带走——下面三条都是被真实数据打出来的，不是设计时想到的。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70048"/>
            <a:ext cx="10607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① 必须把「作者已提出」单独分出来</a:t>
            </a:r>
          </a:p>
          <a:p>
            <a:pPr>
              <a:spcAft>
                <a:spcPts val="900"/>
              </a:spcAft>
            </a:pP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29 条方法学追问里 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23 条的主题作者已在文中论及</a:t>
            </a: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。机器加的是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可判形式</a:t>
            </a: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（滞后分析、E-value 门槛、RERI、回归校准…），不是话题本身。不分标就会把「复述」当成「发现」。</a:t>
            </a:r>
          </a:p>
          <a:p>
            <a:pPr>
              <a:spcAft>
                <a:spcPts val="100"/>
              </a:spcAft>
            </a:pPr>
            <a:r>
              <a:rPr sz="12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② 领域包的价值在于「会算」</a:t>
            </a:r>
          </a:p>
          <a:p>
            <a:pPr>
              <a:spcAft>
                <a:spcPts val="900"/>
              </a:spcAft>
            </a:pP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10 类缺口只是清单；真正有用的是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从论文自报的 HR/CI 直接算出门槛</a:t>
            </a: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——这是任何读者都能复核的数，而不是一句「可能有残余混杂」。</a:t>
            </a:r>
          </a:p>
          <a:p>
            <a:pPr>
              <a:spcAft>
                <a:spcPts val="100"/>
              </a:spcAft>
            </a:pPr>
            <a:r>
              <a:rPr sz="12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③ 门槛 ≠ 结论</a:t>
            </a:r>
          </a:p>
          <a:p>
            <a:pPr>
              <a:spcAft>
                <a:spcPts val="900"/>
              </a:spcAft>
            </a:pP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E-value 1.67 说的是「混杂要强到这个程度才能解释掉」，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不是说效应是真的</a:t>
            </a: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，更推不出任何用药、摄入或诊断建议。这条边界必须写在产出里，而不是写在附录里。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5815584"/>
            <a:ext cx="10789920" cy="9525"/>
          </a:xfrm>
          <a:prstGeom prst="rect">
            <a:avLst/>
          </a:prstGeom>
          <a:solidFill>
            <a:srgbClr val="C9C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门控：产出的每一条问题都带 </a:t>
            </a:r>
            <a:r>
              <a:rPr sz="10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evidence</a:t>
            </a: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（原文句），可逐条回原文核对。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55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09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三、dao 模型在生物医学的实践 · 这一代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7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dao-v-0.3：把「造词」做成一条能跑完的流水线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想象路不是问题路的子功能，而是与它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并列的一条路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。6,642 个领域专业词组合，每个都要走完五步，产出的是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被理解的概念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。</a:t>
            </a:r>
          </a:p>
        </p:txBody>
      </p:sp>
      <p:pic>
        <p:nvPicPr>
          <p:cNvPr id="5" name="Picture 4" descr="fig_pipelin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67" y="2670048"/>
            <a:ext cx="9309017" cy="24140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175504"/>
            <a:ext cx="10817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五步流水线。原则：</a:t>
            </a:r>
            <a:r>
              <a:rPr sz="9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每个词都有意义，只不过是我们缺少想象力，无法理解它</a:t>
            </a:r>
            <a:r>
              <a:rPr sz="9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——因此不存在空想。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815584"/>
            <a:ext cx="10789920" cy="9525"/>
          </a:xfrm>
          <a:prstGeom prst="rect">
            <a:avLst/>
          </a:prstGeom>
          <a:solidFill>
            <a:srgbClr val="C9C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8978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版本线：v0.2 产品 → </a:t>
            </a:r>
            <a:r>
              <a:rPr sz="10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v0.3.0 两条路</a:t>
            </a: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 → v0.3.1 可视化/README → v0.4 问题树 → v0.5（问道）。ModelScope 上的 </a:t>
            </a:r>
            <a:r>
              <a:rPr sz="10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dao-v-0.3</a:t>
            </a: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 就是这一代。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355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三、dao 模型在生物医学的实践 · 问题路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7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问题路：544 条问题覆盖 23 个领域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这一代把「提问题」从零散试探变成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全领域并行扫描 + 分层问题树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，并第一次有了独立的裁决环节。</a:t>
            </a:r>
          </a:p>
        </p:txBody>
      </p:sp>
      <p:pic>
        <p:nvPicPr>
          <p:cNvPr id="5" name="Picture 4" descr="fig_doma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70048"/>
            <a:ext cx="3136529" cy="24140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166360"/>
            <a:ext cx="5623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544 条问题的领域分布（条数最多的前 14 个领域）。朱砂标出的是与生物 / 医学相关的领域。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624328"/>
            <a:ext cx="487375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全领域扫描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领域引擎并行产出，每个领域一份问题清单。</a:t>
            </a:r>
          </a:p>
          <a:p>
            <a:pPr>
              <a:spcAft>
                <a:spcPts val="100"/>
              </a:spcAft>
            </a:pPr>
            <a:r>
              <a:rPr sz="11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反例驱动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专门提「机器结算不了」的问题——</a:t>
            </a:r>
            <a:r>
              <a:rPr sz="10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只提自己答不出的</a:t>
            </a: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。</a:t>
            </a:r>
          </a:p>
          <a:p>
            <a:pPr>
              <a:spcAft>
                <a:spcPts val="100"/>
              </a:spcAft>
            </a:pPr>
            <a:r>
              <a:rPr sz="11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问题树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L0–L5 分层 + 谱系门：每爬一层必须机器实测。</a:t>
            </a:r>
          </a:p>
          <a:p>
            <a:pPr>
              <a:spcAft>
                <a:spcPts val="100"/>
              </a:spcAft>
            </a:pPr>
            <a:r>
              <a:rPr sz="11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入口多样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外部信息（网页 / arXiv / 科学史）· 日常疑问 · 母题，都能成为问题的种子。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815584"/>
            <a:ext cx="10789920" cy="9525"/>
          </a:xfrm>
          <a:prstGeom prst="rect">
            <a:avLst/>
          </a:prstGeom>
          <a:solidFill>
            <a:srgbClr val="C9C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8978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产物：</a:t>
            </a:r>
            <a:r>
              <a:rPr sz="10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out/demo/discovery_manifest.json</a:t>
            </a: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（544 条，字段含 daily_question → scientific_question → judge_route）。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355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三、dao 模型在生物医学的实践 · 独立裁决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7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独立裁决：15 个进制命题的判决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这是全项目里最像「新知识」的一类产出，判据是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数值汇合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，不是证明。换一套实现重算，结果必须一致。</a:t>
            </a:r>
          </a:p>
        </p:txBody>
      </p:sp>
      <p:pic>
        <p:nvPicPr>
          <p:cNvPr id="5" name="Picture 4" descr="fig_har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70048"/>
            <a:ext cx="4148658" cy="24140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166360"/>
            <a:ext cx="5623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青 confirmed 13（例外集在 N1 档不再新增）· 青铜 open 1（例外仍在冒）· 朱砂 rejected 1（出现新例外）——</a:t>
            </a:r>
            <a:r>
              <a:rPr sz="9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机器自己否掉了自己的命题</a:t>
            </a:r>
            <a:r>
              <a:rPr sz="9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624328"/>
            <a:ext cx="487375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命题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每个 n ≥ 4 可写为 base-b 回文数 + 素数；b ≥ 4 时例外集有限且很小。</a:t>
            </a:r>
          </a:p>
          <a:p>
            <a:pPr>
              <a:spcAft>
                <a:spcPts val="100"/>
              </a:spcAft>
            </a:pPr>
            <a:r>
              <a:rPr sz="11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判据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N0 = 5×10⁶ → N1 = 10⁷，两档的例外集是否汇合、有没有冒出新例外。</a:t>
            </a:r>
          </a:p>
          <a:p>
            <a:pPr>
              <a:spcAft>
                <a:spcPts val="100"/>
              </a:spcAft>
            </a:pPr>
            <a:r>
              <a:rPr sz="11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边界推进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base 10 推到 </a:t>
            </a:r>
            <a:r>
              <a:rPr sz="10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10⁸ 零例外</a:t>
            </a: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（人类讨论此前止于 ~10⁶），两种独立实现交叉验证。</a:t>
            </a:r>
          </a:p>
          <a:p>
            <a:pPr>
              <a:spcAft>
                <a:spcPts val="100"/>
              </a:spcAft>
            </a:pPr>
            <a:r>
              <a:rPr sz="11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自我更正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旧账本曾记 base 4 有 20 万个例外，真值 </a:t>
            </a:r>
            <a:r>
              <a:rPr sz="10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5</a:t>
            </a: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——</a:t>
            </a:r>
            <a:r>
              <a:rPr sz="10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错的是账本，不是结论</a:t>
            </a: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，并出更正页。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815584"/>
            <a:ext cx="10789920" cy="9525"/>
          </a:xfrm>
          <a:prstGeom prst="rect">
            <a:avLst/>
          </a:prstGeom>
          <a:solidFill>
            <a:srgbClr val="C9C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8978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分级：N0 已知 → N1 大概率已知 → N2 疑似未见 → N3 世界新。</a:t>
            </a:r>
            <a:r>
              <a:rPr sz="10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N3 至今仍为 0。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355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三、dao 模型在生物医学的实践 · 经验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7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模型侧学到的两件事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这两条都是「机器自己试出来」的，而不是从外部抄来的方法论。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70048"/>
            <a:ext cx="10607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① 独立实现比自证更有用</a:t>
            </a:r>
          </a:p>
          <a:p>
            <a:pPr>
              <a:spcAft>
                <a:spcPts val="900"/>
              </a:spcAft>
            </a:pP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同一命题换一套实现重算（另写 FFT 版本复算 base 3–47），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b=3 的 68 个例外清单逐项一致</a:t>
            </a: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才敢认。自证只能发现笔误，换实现能发现口径错。</a:t>
            </a:r>
          </a:p>
          <a:p>
            <a:pPr>
              <a:spcAft>
                <a:spcPts val="100"/>
              </a:spcAft>
            </a:pPr>
            <a:r>
              <a:rPr sz="12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② 账本必须可作废</a:t>
            </a:r>
          </a:p>
          <a:p>
            <a:pPr>
              <a:spcAft>
                <a:spcPts val="900"/>
              </a:spcAft>
            </a:pP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旧账本记 base 4 有 20 万个例外，真值是 5。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记错账比算错数更危险</a:t>
            </a: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——所以有了 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docs/novelty_ledger_corrections.md</a:t>
            </a: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，对 1,219 处标注 + 三套独立复算 + 作废声明。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5815584"/>
            <a:ext cx="10789920" cy="9525"/>
          </a:xfrm>
          <a:prstGeom prst="rect">
            <a:avLst/>
          </a:prstGeom>
          <a:solidFill>
            <a:srgbClr val="C9C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纪律：机器答不出的问题要</a:t>
            </a:r>
            <a:r>
              <a:rPr sz="10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明确写「悬置」</a:t>
            </a: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，不能悄悄丢掉，也不能包装成结论。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55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四、扩展的实践 · 跨域融合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7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领域融合：27 个领域 → 144 座结构桥梁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融合不是把两个领域的词拼在一起，而是找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共享结构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；没有共享结构的配对判为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空洞笛卡尔积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，不计入桥梁。</a:t>
            </a:r>
          </a:p>
        </p:txBody>
      </p:sp>
      <p:pic>
        <p:nvPicPr>
          <p:cNvPr id="5" name="Picture 4" descr="fig_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70048"/>
            <a:ext cx="4763715" cy="24140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166360"/>
            <a:ext cx="5623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27 个领域两两配对得 702 个组合，其中 144 个被判定为共享结构 → 144 个跨域候选（全部可算）。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624328"/>
            <a:ext cx="487375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为什么不是排列组合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两个领域没共享结构时，拼出来的问题是</a:t>
            </a:r>
            <a:r>
              <a:rPr sz="10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套话</a:t>
            </a: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，不是问题。</a:t>
            </a:r>
          </a:p>
          <a:p>
            <a:pPr>
              <a:spcAft>
                <a:spcPts val="100"/>
              </a:spcAft>
            </a:pPr>
            <a:r>
              <a:rPr sz="11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生物相关的融合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跨域候选里有</a:t>
            </a:r>
            <a:r>
              <a:rPr sz="10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牵涉生物学的桥梁</a:t>
            </a: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（如「用数论方法问生物对象」），这类候选直接落到可算的判定路由上。</a:t>
            </a:r>
          </a:p>
          <a:p>
            <a:pPr>
              <a:spcAft>
                <a:spcPts val="100"/>
              </a:spcAft>
            </a:pPr>
            <a:r>
              <a:rPr sz="11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每条都实跑过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144 条候选</a:t>
            </a:r>
            <a:r>
              <a:rPr sz="10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全部标注为「可算」</a:t>
            </a: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，各带一条判定路由。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815584"/>
            <a:ext cx="10789920" cy="9525"/>
          </a:xfrm>
          <a:prstGeom prst="rect">
            <a:avLst/>
          </a:prstGeom>
          <a:solidFill>
            <a:srgbClr val="C9C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8978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产物：</a:t>
            </a:r>
            <a:r>
              <a:rPr sz="10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out/demo/field_fusion.json</a:t>
            </a: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（fields / total_pairs / cross_hot / candidates）。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355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四、扩展的实践 · 校准自己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7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同一套判据，换领域照样跑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复核性结果的价值是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校准自己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：机器重算出的已知结果对上了，才有资格谈没见过的那部分。</a:t>
            </a:r>
          </a:p>
        </p:txBody>
      </p:sp>
      <p:pic>
        <p:nvPicPr>
          <p:cNvPr id="5" name="Picture 4" descr="fig_redis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70048"/>
            <a:ext cx="4592434" cy="24140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166360"/>
            <a:ext cx="5623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三项与已知文献/数据库对表通过（音乐集合类 224 与 Forte 一致；多完全数与 OEIS A007539 一致；base 10 覆盖两种实现交叉验证）。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624328"/>
            <a:ext cx="487375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数学 · 序列结构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Collatz 链长、多边形数覆盖、5×5 二值纹样 D4 轨道数——可迭代枚举复算。</a:t>
            </a:r>
          </a:p>
          <a:p>
            <a:pPr>
              <a:spcAft>
                <a:spcPts val="100"/>
              </a:spcAft>
            </a:pPr>
            <a:r>
              <a:rPr sz="11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音乐 · 集合类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Tn/TnI 集合类 </a:t>
            </a:r>
            <a:r>
              <a:rPr sz="10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224</a:t>
            </a: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（与 Forte 224 一致）；最大熵集合类</a:t>
            </a:r>
            <a:r>
              <a:rPr sz="10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恰 2 个</a:t>
            </a: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。</a:t>
            </a:r>
          </a:p>
          <a:p>
            <a:pPr>
              <a:spcAft>
                <a:spcPts val="100"/>
              </a:spcAft>
            </a:pPr>
            <a:r>
              <a:rPr sz="11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记录 · 多完全数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k=2,3,4：{6,28,496,8128} / {120,672,523776} / {30240,32760}（对齐 A007539）。</a:t>
            </a:r>
          </a:p>
          <a:p>
            <a:pPr>
              <a:spcAft>
                <a:spcPts val="100"/>
              </a:spcAft>
            </a:pPr>
            <a:r>
              <a:rPr sz="11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未见候选分级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独立 5 · 强 34 · 弱 0 · 短 2——</a:t>
            </a:r>
            <a:r>
              <a:rPr sz="10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这只是 OEIS 沉默 + 机制非平凡，不是文献门，更不是显著性证书</a:t>
            </a: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815584"/>
            <a:ext cx="10789920" cy="9525"/>
          </a:xfrm>
          <a:prstGeom prst="rect">
            <a:avLst/>
          </a:prstGeom>
          <a:solidFill>
            <a:srgbClr val="C9C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8978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诚实标注：分级不等于新颖性；它只说明「在参照系里没见到」，需要人工或文献门复核。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355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四、扩展的实践 · 经验检索桥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7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经验检索桥：6,642 个组合词接上现实经验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桥的作用是让想象力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有据可依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，而不是当裁判。检索未见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不等于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概念为假；见不到也不阻止理解。</a:t>
            </a:r>
          </a:p>
        </p:txBody>
      </p:sp>
      <p:pic>
        <p:nvPicPr>
          <p:cNvPr id="5" name="Picture 4" descr="fig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70048"/>
            <a:ext cx="4755269" cy="24140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166360"/>
            <a:ext cx="5623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6,642 个组合词过双通道检索：词条通道命中 558 个，其中已建成独立条目仅 37 个；抓成语料 49 个词条，写出经验锚点 7 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624328"/>
            <a:ext cx="487375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命中率本身就是发现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词条通道命中约 8.4%，已建成独立条目约 0.6%。</a:t>
            </a:r>
            <a:r>
              <a:rPr sz="10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「检索未见」是常态，不是发现。</a:t>
            </a:r>
          </a:p>
          <a:p>
            <a:pPr>
              <a:spcAft>
                <a:spcPts val="100"/>
              </a:spcAft>
            </a:pPr>
            <a:r>
              <a:rPr sz="11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桥不改变判定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过桥不改变任何判定；检索失败即退化为无锚点，概念照样成立（判据是「被理解」）。</a:t>
            </a:r>
          </a:p>
          <a:p>
            <a:pPr>
              <a:spcAft>
                <a:spcPts val="100"/>
              </a:spcAft>
            </a:pPr>
            <a:r>
              <a:rPr sz="11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默认不过桥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默认只对少数指定组合写锚点；全量检索需要显式开关。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815584"/>
            <a:ext cx="10789920" cy="9525"/>
          </a:xfrm>
          <a:prstGeom prst="rect">
            <a:avLst/>
          </a:prstGeom>
          <a:solidFill>
            <a:srgbClr val="C9C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8978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产物：</a:t>
            </a:r>
            <a:r>
              <a:rPr sz="10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out/demo/browser_mass_search.json</a:t>
            </a: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 · </a:t>
            </a:r>
            <a:r>
              <a:rPr sz="10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data/wiki/</a:t>
            </a: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（语料）· </a:t>
            </a:r>
            <a:r>
              <a:rPr sz="10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out/demo/word_understand.json</a:t>
            </a: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（锚点）。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355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五、接下来的方向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7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多模态实体提取：让图像与声音进入两条路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现在经验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只能以文字进入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系统；图像与声音还没有进入两条路的入口。下一步是把这个「反向」补上——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尚未实现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。</a:t>
            </a:r>
          </a:p>
        </p:txBody>
      </p:sp>
      <p:pic>
        <p:nvPicPr>
          <p:cNvPr id="5" name="Picture 4" descr="fig_multi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644" y="2670048"/>
            <a:ext cx="7591664" cy="24140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175504"/>
            <a:ext cx="10817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实线 = 现在能做的（文字 → 问题 / 概念）。虚线 = 目标（图像 / 声音 → 直接抽实体 → 两条路的入口）。</a:t>
            </a:r>
            <a:r>
              <a:rPr sz="9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虚线框内是目标，不是成果。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815584"/>
            <a:ext cx="10789920" cy="9525"/>
          </a:xfrm>
          <a:prstGeom prst="rect">
            <a:avLst/>
          </a:prstGeom>
          <a:solidFill>
            <a:srgbClr val="C9C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8978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已有最小闭环：</a:t>
            </a:r>
            <a:r>
              <a:rPr sz="10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perceive</a:t>
            </a: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 能把图像 → 结构特征 → 带判定路由的问题；但它抽取的是</a:t>
            </a:r>
            <a:r>
              <a:rPr sz="10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结构特征</a:t>
            </a: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，还不是实体。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355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五、遇到的瓶颈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7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尚未发现 N3 级新问题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问题是真的、量也很大；但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「真的」不等于「新的」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。这台机器停在这一步。</a:t>
            </a:r>
          </a:p>
        </p:txBody>
      </p:sp>
      <p:pic>
        <p:nvPicPr>
          <p:cNvPr id="5" name="Picture 4" descr="fig_bottlen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599" y="2670048"/>
            <a:ext cx="8005754" cy="24140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175504"/>
            <a:ext cx="10817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「N3 = 0」在账本里被独立记下 11 次，从未改变。各行的单位不同，因此不做同轴对比。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815584"/>
            <a:ext cx="10789920" cy="9525"/>
          </a:xfrm>
          <a:prstGeom prst="rect">
            <a:avLst/>
          </a:prstGeom>
          <a:solidFill>
            <a:srgbClr val="C9C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8978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差距的具体位置</a:t>
            </a: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：机器能判的问题里，多数主题</a:t>
            </a:r>
            <a:r>
              <a:rPr sz="10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前人已经问过</a:t>
            </a: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；真正缺的不是产能，而是</a:t>
            </a:r>
            <a:r>
              <a:rPr sz="10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能穿过显著性证书、且前人没问过</a:t>
            </a: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的那一格。下一步要把力气放在「显著性证书」这道门上，而不是继续加产能。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355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170432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ASK-DAO-MACHINE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6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063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问道 · ask-dao-machine · MIT License · 全部数字可用仓库里的命令复现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97764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0">
                <a:solidFill>
                  <a:srgbClr val="2F6B6B"/>
                </a:solidFill>
                <a:latin typeface="Segoe UI"/>
                <a:ea typeface="Microsoft YaHei"/>
                <a:cs typeface="Microsoft YaHei"/>
                <a:hlinkClick r:id="rId2"/>
              </a:rPr>
              <a:t>项目站点　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https://shikunpneg.github.io/ask-dao-machine/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2F6B6B"/>
                </a:solidFill>
                <a:latin typeface="Segoe UI"/>
                <a:ea typeface="Microsoft YaHei"/>
                <a:cs typeface="Microsoft YaHei"/>
                <a:hlinkClick r:id="rId3"/>
              </a:rPr>
              <a:t>命令行文档　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https://shikunpneg.github.io/ask-dao-machine/guide/cli.html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2F6B6B"/>
                </a:solidFill>
                <a:latin typeface="Segoe UI"/>
                <a:ea typeface="Microsoft YaHei"/>
                <a:cs typeface="Microsoft YaHei"/>
                <a:hlinkClick r:id="rId4"/>
              </a:rPr>
              <a:t>生物医学完整演示　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https://shikunpneg.github.io/ask-dao-machine/guide/demo-biomed.html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2F6B6B"/>
                </a:solidFill>
                <a:latin typeface="Segoe UI"/>
                <a:ea typeface="Microsoft YaHei"/>
                <a:cs typeface="Microsoft YaHei"/>
                <a:hlinkClick r:id="rId5"/>
              </a:rPr>
              <a:t>结果与证据手册　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https://shikunpneg.github.io/ask-dao-machine/guide/results.html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2F6B6B"/>
                </a:solidFill>
                <a:latin typeface="Segoe UI"/>
                <a:ea typeface="Microsoft YaHei"/>
                <a:cs typeface="Microsoft YaHei"/>
                <a:hlinkClick r:id="rId6"/>
              </a:rPr>
              <a:t>ModelScope · dao-v-0.3　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https://www.modelscope.cn/studios/skopskp/dao-v-0.3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2F6B6B"/>
                </a:solidFill>
                <a:latin typeface="Segoe UI"/>
                <a:ea typeface="Microsoft YaHei"/>
                <a:cs typeface="Microsoft YaHei"/>
                <a:hlinkClick r:id="rId7"/>
              </a:rPr>
              <a:t>GitHub　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https://github.com/shikunpneg/ask-dao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2F6B6B"/>
                </a:solidFill>
                <a:latin typeface="Source Han Serif SC"/>
                <a:ea typeface="SimSun"/>
                <a:cs typeface="SimSun"/>
              </a:rPr>
              <a:t>道生一，一生二，二生三，三生万物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355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