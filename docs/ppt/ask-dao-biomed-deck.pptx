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hikunpneg.github.io/ask-dao-machine/" TargetMode="External"/><Relationship Id="rId3" Type="http://schemas.openxmlformats.org/officeDocument/2006/relationships/hyperlink" Target="https://shikunpneg.github.io/ask-dao-machine/guide/cli.html" TargetMode="External"/><Relationship Id="rId4" Type="http://schemas.openxmlformats.org/officeDocument/2006/relationships/hyperlink" Target="https://shikunpneg.github.io/ask-dao-machine/guide/demo-biomed.html" TargetMode="External"/><Relationship Id="rId5" Type="http://schemas.openxmlformats.org/officeDocument/2006/relationships/hyperlink" Target="https://shikunpneg.github.io/ask-dao-machine/guide/results.html" TargetMode="External"/><Relationship Id="rId6" Type="http://schemas.openxmlformats.org/officeDocument/2006/relationships/hyperlink" Target="https://www.modelscope.cn/studios/skopskp/dao-v-0.3" TargetMode="External"/><Relationship Id="rId7" Type="http://schemas.openxmlformats.org/officeDocument/2006/relationships/hyperlink" Target="https://github.com/shikunpneg/ask-dao-machin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170432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ASK-DAO-MACHINE · 知识发现系统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6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问道知识发现系统</a:t>
            </a:r>
          </a:p>
          <a:p>
            <a:pPr>
              <a:spcAft>
                <a:spcPts val="200"/>
              </a:spcAft>
            </a:pPr>
            <a:r>
              <a:rPr sz="36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在生物医学领域的发现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063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原理 → 结果 → 验证。dao v0.3 的结果、问道的结果、扩展到其他领域的结果，
每一块都回答两个问题：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为什么这是新问题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、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为什么这算新知识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原理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两条独立的路，两套成功标准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这是 v0.3.0 确立的架构，此后没有变过：判不了的不产出，两条路互不评判。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70048"/>
            <a:ext cx="10607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问题路 · 产问题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输入：外部信息（视觉 / 网页 / arXiv）· 日常问题 · 母题。流水：日常问题 → 前问题 → 科学问题 → 基础领域 → 问题树 → 领域融合。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成功标准：答案成立 / 可判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；每条问题必须带 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route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（判定方式）。</a:t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想象路 · 产概念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输入：词。流水：组词 → 拆词（深度 d）→ 还原造句 → 成段 → 解释。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成功标准：语法正确 + 逻辑通畅 + 有推理判断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——不是「有真实所指」。</a:t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互不评判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用问题路的逻辑（「这新吗」「有真实所指吗」）去判想象路的概念，是范畴错误。</a:t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经验检索桥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想象路可接现实经验（维基双通道 + arXiv 回退 → 经验锚点），但只做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脚手架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，不做裁判。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原理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什么算「新」：三层 + 三种形态 + 四道门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把「新」拆成可操作的门，而不是形容词。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世界新问题至今 = 0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，所以下面每一层都要标清是哪一层。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670048"/>
          <a:ext cx="10789920" cy="268833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96640"/>
                <a:gridCol w="3596640"/>
                <a:gridCol w="3596640"/>
              </a:tblGrid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层 / 形态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含义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本 deck 里对应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K1 提出的问题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机器提出、人没提过的</a:t>
                      </a:r>
                      <a:r>
                        <a:rPr sz="950" b="1">
                          <a:solidFill>
                            <a:srgbClr val="B03A2E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候选问题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问题路各域问题清单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K2 证据边界推进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把人类讨论止步处往前推，可复核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跨进制 10⁶ → 10⁸；账本更正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K3 归纳的规律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从大量扫描里归纳出的可检验规律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例外集有限、融合桥梁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「新」三形态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①检索未见 ②结构可推 ③显著性证书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①廉价，③才拦得住人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四道真门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机器真判 → OEIS 实查 → 结构可推性 → 显著性证书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novelty_gate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N0–N3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N0 已知 → N1 大概率已知 → N2 疑似未见 → </a:t>
                      </a:r>
                      <a:r>
                        <a:rPr sz="950" b="1">
                          <a:solidFill>
                            <a:srgbClr val="B03A2E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N3 世界新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B03A2E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N3 = 0</a:t>
                      </a: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（诚实边界）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纪律：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显著性 &gt; 新颖性</a:t>
            </a: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。任选参数的序列同样「检索未见」，只有显著性证书拦得住。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原理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问题从哪来：四种机制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前三种通用，第四种是领域包。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「作者已提出」与「机器提出」必须分开标注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——前者不算新问题。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670048"/>
          <a:ext cx="10789920" cy="19202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96640"/>
                <a:gridCol w="3596640"/>
                <a:gridCol w="3596640"/>
              </a:tblGrid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机制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抓什么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来源标注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① 作者自陈未解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open problem / remains unclear / 尚不明确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作者已提出（不算新）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② 文本张力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however / yet / inconsistent 处的分歧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机器提出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③ 结构追问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对结论句套四问：范围 / 反例 / 机制 / 定量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机器提出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④ 领域包（如生物医学）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10 类方法学缺口 + 从 HR/CI 直接算 E-value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机器提出 / 作者已论及（分标）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实现：src/ask_dao_machine/paper.py · domains_biomed.py；产物每条带 evidence（原文句）与 route（判定方式）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dao v0.3 · 这一代做了什么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dao v0.3：两条路确立的那一代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版本线：v0.2 产品 → 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v0.3.0 两条路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 → v0.3.1 可视化/README → v0.4 树 → v0.5（问道，本次）。ModelScope 上的 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dao-v-0.3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 就是这一代。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70048"/>
            <a:ext cx="10607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架构确立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系统 = 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两条独立的路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 + 五模块；想象路首次成为与问题路并列的路，而不是问题路的子功能。</a:t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统一入口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tools/run_paths.py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：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problem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（问题路）与 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imagine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（想象路）两个子命令。</a:t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问题路进展（R22–R69）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重建新颖性判定（OEIS 倒排索引 + 四道真门）· 反例驱动引擎 · 问题树 L0–L5 · 14 领域并行 · 深层融合 · AI4S harness 独立复核。</a:t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想象路从零到一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82×82 = 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6,642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 个组合词；五步流程（组词/拆词/还原造句/成段/解释）全部实现。</a:t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诚实记录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这一代的 release note 里写着：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N3 仍 = 0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来源：CHANGELOG.md §v0.3.0（两条路）· §v0.3.1 · 项目站点 §模型运行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dao v0.3 · 结果（一）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想象路的结果：6,642 个组合词走完五步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把「造词」做成一条可跑完的流水线：每个组合词都要经过五步，产出的是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被理解的概念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670048"/>
          <a:ext cx="10789920" cy="23042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96640"/>
                <a:gridCol w="3596640"/>
                <a:gridCol w="3596640"/>
              </a:tblGrid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步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做了什么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产物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① 组词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穷尽领域专业词组合：82 × 82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6,642 个组合词（word_fusion.json）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② 拆词（深度 d）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问「它是什么」→ 拆实体 → 再问 → 可再拆？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拆到原子概念（深度为变量）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③ 还原造句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从底往上还原：嵌套 + 推理 + 判断 + 比较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有推理判断的句子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④ 成段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定义 → 判断 → 比较 → 结论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一段自洽的理解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⑤ 解释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指什么现象 / 机制 / 深问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概念成立（判据：被理解）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原则：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每个词都有意义，只不过是我们缺少想象力，无法理解它</a:t>
            </a: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——因此不存在空想。纪律：成功标准是「解释」，不是「真实所指」。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dao v0.3 · 结果（二）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问题路的结果：260 条 / 23 领域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这一代把「提问题」从零散试探变成全领域并行扫描 + 分层问题树，并第一次有了独立的裁决环节。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670048"/>
          <a:ext cx="10789920" cy="268833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96640"/>
                <a:gridCol w="3596640"/>
                <a:gridCol w="3596640"/>
              </a:tblGrid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这一代的数字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判据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全领域扫描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14 领域 × 14 进程并行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all_domains_engine.py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问题清单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260 条 / 23 领域（可视化 v0.3.1 口径）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每条带判定路由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反例驱动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11 条「机器答不出」的问题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counterex_engine.py：只提机器结算不了的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问题树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L0–L5 分层 + 谱系门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每爬一层必须机器实测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领域融合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领域级 + </a:t>
                      </a:r>
                      <a:r>
                        <a:rPr sz="950" b="1">
                          <a:solidFill>
                            <a:srgbClr val="B03A2E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结构桥梁</a:t>
                      </a: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判据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无共享结构的配对 = 空洞笛卡尔积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独立裁决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AI4S harness：跨进制 </a:t>
                      </a:r>
                      <a:r>
                        <a:rPr sz="950" b="1">
                          <a:solidFill>
                            <a:srgbClr val="B03A2E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13 条 confirmed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N0→N1 例外集汇合、无新例外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来源：CHANGELOG §v0.3.0 §问题路进展（R22–R69）· docs/viz/paths.html · out/demo/harness_verdicts.json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dao v0.3 · 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验证：为什么这些算「新问题」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不靠措辞，靠四道真门 + 独立裁决。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四道门全过才叫 N3，至今 0 条。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670048"/>
          <a:ext cx="10789920" cy="23042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96640"/>
                <a:gridCol w="3596640"/>
                <a:gridCol w="3596640"/>
              </a:tblGrid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门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怎么判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这一代的结果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① 机器真判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问题必须能被判定器结算（真 / 假 / 悬置）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判不了的</a:t>
                      </a:r>
                      <a:r>
                        <a:rPr sz="1050" b="1">
                          <a:solidFill>
                            <a:srgbClr val="B03A2E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不产出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② OEIS 实查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离线索引 399,061 条序列比对前缀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未命中 ≠ 新（只写在「参照系未见」）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③ 结构可推性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值能不能从更简单的结构推出来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能推出来的降级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④ 显著性证书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具名对象的不变量 + 参数扰动下保持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B03A2E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唯一拦得住人的门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独立复核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harness 换一套实现重算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confirmed 13 · open 1 · rejected 1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结论：这一代产出的是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候选问题</a:t>
            </a: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与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证据边界推进</a:t>
            </a: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；世界新问题 N3 = 0，不粉饰。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问道 · 这一代做了什么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问道（v0.5）：把两条路做成能用的东西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不是新原理，而是把原理产品化，并接上一个真实领域的完整实践。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670048"/>
          <a:ext cx="10789920" cy="23042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96640"/>
                <a:gridCol w="3596640"/>
                <a:gridCol w="3596640"/>
              </a:tblGrid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新增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做了什么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命令行产品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B03A2E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ask-dao-machine</a:t>
                      </a: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 一个命令九个动作（paper/ask/imagine/perceive/all/report/doctor/data/mcp）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产物固定：problems_*.json + REPORT.md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生物医学领域包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10 类方法学缺口 + 从论文自报 HR/CI 直接算 E-value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本次 54 条的问题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经验检索桥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组合词 → 维基双通道 + arXiv 回退 → 经验锚点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6,642 组合已检索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经验入口 perceive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图像 → 结构特征 → 带判定路由的问题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最小闭环（未来反向：多模态实体提取）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宿主集成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MCP server（Claude Code / DSH / Cursor 可挂）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5 个工具；DSH 技能热加载已验证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产物引用：out/biomed_demo/problems_paper.json · docs/guide/demo-biomed.md · docs/ppt/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问道 · 结果（一）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生物医学结果：一篇真实论文 → 54 条问题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输入：CC BY 4.0 开放获取临床研究（PMC13331974，UK Biobank n=156,000，中位随访 13.3 年）；输出：可判问题 + 机器算出的门槛。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670048"/>
          <a:ext cx="10789920" cy="23042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96640"/>
                <a:gridCol w="3596640"/>
                <a:gridCol w="3596640"/>
              </a:tblGrid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产出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条数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② 文本张力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however / yet 处的分歧 → 形式化追问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③ 结构追问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对结论句套四问（范围 / 反例 / 机制 / 定量）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④ 生物医学方法学追问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29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10 类缺口；每条带原文句子 + 判定路由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其中：机器算出数值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从论文自报 HR/CI 算 E-value（残余混杂门槛）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54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① 作者自陈未解命中 0 条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命令：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ask-dao-machine paper papers/biomed/PMC13331974.md --domain biomed --out out/biomed_demo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问道 · 结果（二）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机器算出来的三个残余混杂门槛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要把这个效应解释成「没有效应」，未测混杂必须与暴露、结局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同时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达到多强的关联。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670048"/>
          <a:ext cx="10789920" cy="153619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论文报告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E-value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按 CI 下界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含义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HR 1.19（1.08–1.30）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1.67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1.37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未测混杂要与暴露、结局各自达到 RR≈1.67 才能把效应解释为零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HR 1.49（1.28–1.74）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2.34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1.88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最高风险组所需混杂强度更高，最难被混杂解释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HR 1.02（1.01–1.04）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1.16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1.11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替代分析那一条最脆：几乎任何微弱混杂都能解释掉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公式 E = RR + √(RR(RR−1))，用 HR 近似 RR，只在结局不常见时成立（本文 CKD 发病率低）。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问道 · 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验证：为什么这是新问题、为什么算新知识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同一个结果要分别过两道验证，标准不同、话也不能混着说。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670048"/>
          <a:ext cx="10789920" cy="153619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96640"/>
                <a:gridCol w="3596640"/>
                <a:gridCol w="3596640"/>
              </a:tblGrid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问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怎么验证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本次结论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为什么是</a:t>
                      </a:r>
                      <a:r>
                        <a:rPr sz="1050" b="1">
                          <a:solidFill>
                            <a:srgbClr val="B03A2E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新问题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① 不是作者自陈（</a:t>
                      </a:r>
                      <a:r>
                        <a:rPr sz="1050" b="1">
                          <a:solidFill>
                            <a:srgbClr val="B03A2E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is_author_stated</a:t>
                      </a: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）② 带判定方式（</a:t>
                      </a:r>
                      <a:r>
                        <a:rPr sz="1050" b="1">
                          <a:solidFill>
                            <a:srgbClr val="B03A2E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route</a:t>
                      </a: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）③ 原文句可核对 ④ 主题作者是否已论及单独标注（</a:t>
                      </a:r>
                      <a:r>
                        <a:rPr sz="1050" b="1">
                          <a:solidFill>
                            <a:srgbClr val="B03A2E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author_touched</a:t>
                      </a: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29 条追问中 </a:t>
                      </a:r>
                      <a:r>
                        <a:rPr sz="1050" b="1">
                          <a:solidFill>
                            <a:srgbClr val="B03A2E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23 条的主题作者已论及</a:t>
                      </a: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；6 条文中未见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为什么算</a:t>
                      </a:r>
                      <a:r>
                        <a:rPr sz="1050" b="1">
                          <a:solidFill>
                            <a:srgbClr val="B03A2E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新知识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① 原文中是否出现过 ② 能否用论文自报的数字复核 ③ 是不是门槛而非结论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B03A2E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原文里 E-value 出现 0 次</a:t>
                      </a: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；三个数任何人都能复核（1.67 / 2.34 / 1.16）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不主张什么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世界新问题（N3）= 0；「文中未见」≠ 文献没有；不构成临床建议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写在产出与网页里，不写在附录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逐条证据句与判定路由见 docs/guide/demo-biomed.md；每条产物的 evidence 字段就是触发它的原文句子。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问道 · 验证（K2）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证据边界推进：把人类止步处往前推，并被两套实现确认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这是全项目里最像「新知识」的一类产出，判据是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数值汇合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，不是证明。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670048"/>
          <a:ext cx="10789920" cy="23042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96640"/>
                <a:gridCol w="3596640"/>
                <a:gridCol w="3596640"/>
              </a:tblGrid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项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验证方式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命题 P(b)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每个 n ≥ 4 可写为 base-b 回文数 + 素数；b ≥ 4 时例外集有限且很小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精确枚举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15 个进制裁决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confirmed 13（含 5 个零例外）· open 1（b=3）· rejected 1（b=2）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N0=5×10⁶ → N1=10⁷ 例外集汇合、无新例外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base 10 边界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推到 </a:t>
                      </a:r>
                      <a:r>
                        <a:rPr sz="1050" b="1">
                          <a:solidFill>
                            <a:srgbClr val="B03A2E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10⁸ 零例外</a:t>
                      </a: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（人类讨论此前止于 ~10⁶）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两种独立实现交叉验证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独立复算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另写一套 FFT 实现复算 base 3–47：b=3 例外 68 个，清单逐项与 harness 一致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本次会话独立实现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自我更正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旧账本曾记 base 4 有 20 万个例外，真值 </a:t>
                      </a:r>
                      <a:r>
                        <a:rPr sz="1050" b="1">
                          <a:solidFill>
                            <a:srgbClr val="B03A2E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5</a:t>
                      </a: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；错的是账本，不是结论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docs/novelty_ledger_corrections.md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分级定义：N0 已知 → N1 大概率已知 → N2 疑似未见 → N3 世界新。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N3 仍为 0。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扩展 · 数学与音乐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同一套判据，换领域照样跑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下面是其他领域的真实产出。左列是结果，右列是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它的验证方式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——没有验证方式的不列。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670048"/>
          <a:ext cx="10789920" cy="19202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96640"/>
                <a:gridCol w="3596640"/>
                <a:gridCol w="3596640"/>
              </a:tblGrid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领域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验证方式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数学 · 序列结构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Collatz 链长（n=2..39）、多边形数覆盖、5×5 二值纹样 D4 未配对格点数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迭代枚举 / Burnside 计数（可复算）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音乐 · 集合类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Tn/TnI 集合类 </a:t>
                      </a:r>
                      <a:r>
                        <a:rPr sz="1050" b="1">
                          <a:solidFill>
                            <a:srgbClr val="B03A2E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224</a:t>
                      </a: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（与 Forte 224 一致）；最大熵集合类</a:t>
                      </a:r>
                      <a:r>
                        <a:rPr sz="1050" b="1">
                          <a:solidFill>
                            <a:srgbClr val="B03A2E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恰 2 个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机器重发现 → 与已知文献对表 ✓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记录 · 多完全数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k=2,3,4：{6,28,496,8128} / {120,672,523776} / {30240,32760}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与 OEIS A007539 对表 ✓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语言 · 信息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言不尽意 × 熵率：跨域的判定路由可执行（N0/N1 标注）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参照系比对 + 判定路由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复核性结果的价值是</a:t>
            </a:r>
            <a:r>
              <a:rPr sz="10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校准自己</a:t>
            </a: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：机器重算出的已知结果对上了，才有资格谈没见过的那部分。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扩展 · 跨域融合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领域融合：27 个领域、702 个配对、144 座结构桥梁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融合不是把两个领域的词拼在一起，而是找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共享结构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；没有共享结构的配对是空洞笛卡尔积。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670048"/>
          <a:ext cx="10789920" cy="268833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96640"/>
                <a:gridCol w="3596640"/>
                <a:gridCol w="3596640"/>
              </a:tblGrid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项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数字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判据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参与融合的领域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27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field_fusion.py 领域表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配对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702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两两配对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结构桥梁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B03A2E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144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双方共享结构（否则判为空洞）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跨域候选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130（数值 58 / 仿真 72）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每条实跑过判定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真三域候选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带参数网格的三域交集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未见候选严格分级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独立 5 · 强 34 · 短 2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OEIS 沉默代理 + 机制非平凡 + 族去重（</a:t>
                      </a:r>
                      <a:r>
                        <a:rPr sz="950" b="1">
                          <a:solidFill>
                            <a:srgbClr val="B03A2E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非文献门</a:t>
                      </a:r>
                      <a:r>
                        <a:rPr sz="9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诚实标注：分级只是「OEIS 沉默 + 机制非平凡」，不是文献门，更不是显著性证书。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扩展 · 美学与想象路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需要人类裁决的那一半：可测问题与概念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美学域与想象路的产出</a:t>
            </a:r>
            <a:r>
              <a:rPr sz="120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不由机器终审</a:t>
            </a: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：前者交实验/审美共同体，后者判据是「被理解」。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670048"/>
          <a:ext cx="10789920" cy="19202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96640"/>
                <a:gridCol w="3596640"/>
                <a:gridCol w="3596640"/>
              </a:tblGrid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项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产出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9A7B3F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判据 / 验证</a:t>
                      </a:r>
                    </a:p>
                  </a:txBody>
                  <a:tcPr>
                    <a:solidFill>
                      <a:srgbClr val="F7F3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美学 · 可测问题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8 条（含 IV/DV/设计/预测）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状态=待实验/待评审；判官=审美共同体 + 实验数据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例：倒U曲线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结构复杂度越高，愉悦—熟悉倒U曲线的拐点越靠后？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IV 编曲复杂度(3档) × 重复次数(0..12)；DV 愉悦量表；被试盲听重复打分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想象路 · 概念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记忆调性 · 认知压缩 · 责任催化 · 资本反馈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判据=语法正确 + 逻辑通畅 + 有推理判断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经验检索桥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6,642 组合双通道 · 词条命中 558 · 已成词 37 · 锚点 7 处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6191D"/>
                          </a:solidFill>
                          <a:latin typeface="Segoe UI"/>
                          <a:ea typeface="Microsoft YaHei"/>
                          <a:cs typeface="Microsoft YaHei"/>
                        </a:rPr>
                        <a:t>只做脚手架：不判定概念真伪</a:t>
                      </a:r>
                    </a:p>
                  </a:txBody>
                  <a:tcPr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桥的语料：data/wiki/ 49 个词条（词库 82 词中已抓）。检索未见 ≠ 概念为假，见不到也不阻止理解。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诚实边界 · 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7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这份结果不主张什么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每一条都写在产出里，而不是写在附录里。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70048"/>
            <a:ext cx="10607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不主张世界新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世界新问题（N3）至今 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= 0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；这里给的是候选问题与证据边界推进。</a:t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不主张作者没想过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生物医学 29 条追问里，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23 条的主题作者已在文中论及</a:t>
            </a: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；机器加的是可判形式（滞后分析、E-value 门槛、RERI、回归校准…），不是话题本身。</a:t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不主张文献没有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「文中未见 / 参照系未见」只表示索引里没有；OEIS 是沉默代理，不是文献门。</a:t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不构成临床建议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HR 与 E-value 是流行病学量的换算，不能推出任何用药、摄入或诊断建议。</a:t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想象路不接受真伪评判</a:t>
            </a:r>
          </a:p>
          <a:p>
            <a:pPr>
              <a:spcAft>
                <a:spcPts val="900"/>
              </a:spcAft>
            </a:pPr>
            <a:r>
              <a:rPr sz="115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概念的成功标准是「被理解」；用「这新吗」去判想象路，是范畴错误。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5815584"/>
            <a:ext cx="10789920" cy="9525"/>
          </a:xfrm>
          <a:prstGeom prst="rect">
            <a:avLst/>
          </a:prstGeom>
          <a:solidFill>
            <a:srgbClr val="C9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7078"/>
                </a:solidFill>
                <a:latin typeface="Segoe UI"/>
                <a:ea typeface="Microsoft YaHei"/>
                <a:cs typeface="Microsoft YaHei"/>
              </a:rPr>
              <a:t>对应站点 §诚实边界 与 README §诚实边界 的同一条纪律。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170432"/>
            <a:ext cx="10789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ASK-DAO-MACHINE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600" b="1">
                <a:solidFill>
                  <a:srgbClr val="16191D"/>
                </a:solidFill>
                <a:latin typeface="Source Han Serif SC"/>
                <a:ea typeface="SimSun"/>
                <a:cs typeface="SimSun"/>
              </a:rP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063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4A4F57"/>
                </a:solidFill>
                <a:latin typeface="Segoe UI"/>
                <a:ea typeface="Microsoft YaHei"/>
                <a:cs typeface="Microsoft YaHei"/>
              </a:rPr>
              <a:t>问道 · ask-dao-machine · MIT License · 全部数字可用仓库里的命令复现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97764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0">
                <a:solidFill>
                  <a:srgbClr val="2F6B6B"/>
                </a:solidFill>
                <a:latin typeface="Segoe UI"/>
                <a:ea typeface="Microsoft YaHei"/>
                <a:cs typeface="Microsoft YaHei"/>
                <a:hlinkClick r:id="rId2"/>
              </a:rPr>
              <a:t>项目站点　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https://shikunpneg.github.io/ask-dao-machine/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2F6B6B"/>
                </a:solidFill>
                <a:latin typeface="Segoe UI"/>
                <a:ea typeface="Microsoft YaHei"/>
                <a:cs typeface="Microsoft YaHei"/>
                <a:hlinkClick r:id="rId3"/>
              </a:rPr>
              <a:t>命令行文档　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https://shikunpneg.github.io/ask-dao-machine/guide/cli.html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2F6B6B"/>
                </a:solidFill>
                <a:latin typeface="Segoe UI"/>
                <a:ea typeface="Microsoft YaHei"/>
                <a:cs typeface="Microsoft YaHei"/>
                <a:hlinkClick r:id="rId4"/>
              </a:rPr>
              <a:t>生物医学完整演示　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https://shikunpneg.github.io/ask-dao-machine/guide/demo-biomed.html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2F6B6B"/>
                </a:solidFill>
                <a:latin typeface="Segoe UI"/>
                <a:ea typeface="Microsoft YaHei"/>
                <a:cs typeface="Microsoft YaHei"/>
                <a:hlinkClick r:id="rId5"/>
              </a:rPr>
              <a:t>结果与证据手册　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https://shikunpneg.github.io/ask-dao-machine/guide/results.html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2F6B6B"/>
                </a:solidFill>
                <a:latin typeface="Segoe UI"/>
                <a:ea typeface="Microsoft YaHei"/>
                <a:cs typeface="Microsoft YaHei"/>
                <a:hlinkClick r:id="rId6"/>
              </a:rPr>
              <a:t>ModelScope · dao-v-0.3　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https://www.modelscope.cn/studios/skopskp/dao-v-0.3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2F6B6B"/>
                </a:solidFill>
                <a:latin typeface="Segoe UI"/>
                <a:ea typeface="Microsoft YaHei"/>
                <a:cs typeface="Microsoft YaHei"/>
                <a:hlinkClick r:id="rId7"/>
              </a:rPr>
              <a:t>GitHub　</a:t>
            </a:r>
            <a:r>
              <a:rPr sz="1150" b="1">
                <a:solidFill>
                  <a:srgbClr val="2F6B6B"/>
                </a:solidFill>
                <a:latin typeface="Segoe UI"/>
                <a:ea typeface="Microsoft YaHei"/>
                <a:cs typeface="Microsoft YaHei"/>
              </a:rPr>
              <a:t>https://github.com/shikunpneg/ask-dao-machine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2F6B6B"/>
                </a:solidFill>
                <a:latin typeface="Source Han Serif SC"/>
                <a:ea typeface="SimSun"/>
                <a:cs typeface="SimSun"/>
              </a:rPr>
              <a:t>道生一，一生二，二生三，三生万物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550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9A7B3F"/>
                </a:solidFill>
                <a:latin typeface="Segoe UI"/>
                <a:ea typeface="Microsoft YaHei"/>
                <a:cs typeface="Microsoft YaHe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